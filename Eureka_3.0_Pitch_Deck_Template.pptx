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22236"/>
            <a:ext cx="6601038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F9F"/>
                </a:solidFill>
              </a:defRPr>
            </a:pPr>
            <a:endParaRPr lang="en-US" dirty="0"/>
          </a:p>
          <a:p>
            <a:pPr>
              <a:defRPr sz="2800" b="1">
                <a:solidFill>
                  <a:srgbClr val="0B4F9F"/>
                </a:solidFill>
              </a:defRPr>
            </a:pPr>
            <a:r>
              <a:rPr dirty="0"/>
              <a:t>EUREKA 3.0! — ROAD TO ENTERPRISE 2026</a:t>
            </a:r>
          </a:p>
          <a:p>
            <a:pPr>
              <a:defRPr sz="2000" b="1">
                <a:solidFill>
                  <a:srgbClr val="E53935"/>
                </a:solidFill>
              </a:defRPr>
            </a:pPr>
            <a:r>
              <a:rPr dirty="0"/>
              <a:t>TITLE PAGE (Idea Submission 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600" b="1" dirty="0">
                <a:solidFill>
                  <a:srgbClr val="0B4F9F"/>
                </a:solidFill>
              </a:rPr>
              <a:t>• Problem Statement Title: </a:t>
            </a:r>
            <a:r>
              <a:rPr sz="1600" dirty="0">
                <a:solidFill>
                  <a:srgbClr val="1E293B"/>
                </a:solidFill>
              </a:rPr>
              <a:t>Enter Your Project / Problem Title Here</a:t>
            </a:r>
          </a:p>
          <a:p>
            <a:r>
              <a:rPr sz="1600" b="1" dirty="0">
                <a:solidFill>
                  <a:srgbClr val="0B4F9F"/>
                </a:solidFill>
              </a:rPr>
              <a:t>• Theme: </a:t>
            </a:r>
            <a:r>
              <a:rPr sz="1600" dirty="0">
                <a:solidFill>
                  <a:srgbClr val="1E293B"/>
                </a:solidFill>
              </a:rPr>
              <a:t>Smart Agriculture / Healthcare / FinTech / Green Energy / Open Innovation</a:t>
            </a:r>
          </a:p>
          <a:p>
            <a:r>
              <a:rPr sz="1600" b="1" dirty="0">
                <a:solidFill>
                  <a:srgbClr val="0B4F9F"/>
                </a:solidFill>
              </a:rPr>
              <a:t>• PS Category: </a:t>
            </a:r>
            <a:r>
              <a:rPr sz="1600" dirty="0">
                <a:solidFill>
                  <a:srgbClr val="1E293B"/>
                </a:solidFill>
              </a:rPr>
              <a:t>Software / Hardware</a:t>
            </a:r>
          </a:p>
          <a:p>
            <a:r>
              <a:rPr sz="1600" b="1" dirty="0">
                <a:solidFill>
                  <a:srgbClr val="0B4F9F"/>
                </a:solidFill>
              </a:rPr>
              <a:t>• Team Name: </a:t>
            </a:r>
            <a:r>
              <a:rPr sz="1600" dirty="0">
                <a:solidFill>
                  <a:srgbClr val="1E293B"/>
                </a:solidFill>
              </a:rPr>
              <a:t>Your Registered Team Name</a:t>
            </a:r>
          </a:p>
          <a:p>
            <a:r>
              <a:rPr sz="1600" b="1" dirty="0">
                <a:solidFill>
                  <a:srgbClr val="0B4F9F"/>
                </a:solidFill>
              </a:rPr>
              <a:t>• Team Leader Details: </a:t>
            </a:r>
            <a:r>
              <a:rPr sz="1600" dirty="0">
                <a:solidFill>
                  <a:srgbClr val="1E293B"/>
                </a:solidFill>
              </a:rPr>
              <a:t>Full Name | Roll No | Branch | Contact No | Email</a:t>
            </a:r>
          </a:p>
          <a:p>
            <a:r>
              <a:rPr sz="1600" b="1" dirty="0">
                <a:solidFill>
                  <a:srgbClr val="0B4F9F"/>
                </a:solidFill>
              </a:rPr>
              <a:t>• Team Members Details: </a:t>
            </a:r>
            <a:r>
              <a:rPr sz="1600" dirty="0">
                <a:solidFill>
                  <a:srgbClr val="1E293B"/>
                </a:solidFill>
              </a:rPr>
              <a:t>Member 2 to Member 7 (Full Names &amp; University Roll Numbers)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4F9F"/>
          </a:solidFill>
          <a:ln>
            <a:solidFill>
              <a:srgbClr val="0B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@Eureka 3.0 Idea Submission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77FBF-6608-3960-0B77-36E5FB32F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049" y="72375"/>
            <a:ext cx="3238951" cy="1785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B3C361-066A-9E4E-97BD-466540D7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284" y="130818"/>
            <a:ext cx="3238952" cy="11431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FB30AC-438F-1B2E-2489-E0DAD1F17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05" y="72373"/>
            <a:ext cx="1867745" cy="8896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2011680" cy="411480"/>
          </a:xfrm>
          <a:prstGeom prst="roundRect">
            <a:avLst/>
          </a:prstGeom>
          <a:solidFill>
            <a:srgbClr val="1070E0"/>
          </a:solidFill>
          <a:ln>
            <a:solidFill>
              <a:srgbClr val="1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[Your 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4F9F"/>
                </a:solidFill>
              </a:defRPr>
            </a:pPr>
            <a:r>
              <a:t>IDEA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4F9F"/>
          </a:solidFill>
          <a:ln>
            <a:solidFill>
              <a:srgbClr val="0B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@Eureka 3.0 Idea Submission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70E0"/>
                </a:solidFill>
              </a:defRPr>
            </a:pPr>
            <a:r>
              <a:t>❖ Proposed Solution (Describe your Idea/Solution/Prototype)</a:t>
            </a:r>
          </a:p>
          <a:p>
            <a:r>
              <a:rPr sz="1800" b="1">
                <a:solidFill>
                  <a:srgbClr val="0B4F9F"/>
                </a:solidFill>
              </a:rPr>
              <a:t>• Detailed explanation of the proposed solution:</a:t>
            </a:r>
            <a:r>
              <a:rPr sz="1600">
                <a:solidFill>
                  <a:srgbClr val="1E293B"/>
                </a:solidFill>
              </a:rPr>
              <a:t> Provide a clear, comprehensive description of your innovative idea, system workflow, or prototype mechanism.</a:t>
            </a:r>
          </a:p>
          <a:p>
            <a:r>
              <a:rPr sz="1800" b="1">
                <a:solidFill>
                  <a:srgbClr val="0B4F9F"/>
                </a:solidFill>
              </a:rPr>
              <a:t>• How it addresses the problem:</a:t>
            </a:r>
            <a:r>
              <a:rPr sz="1600">
                <a:solidFill>
                  <a:srgbClr val="1E293B"/>
                </a:solidFill>
              </a:rPr>
              <a:t> Explain how your solution directly eliminates market pain points and addresses target user challenges.</a:t>
            </a:r>
          </a:p>
          <a:p>
            <a:r>
              <a:rPr sz="1800" b="1">
                <a:solidFill>
                  <a:srgbClr val="0B4F9F"/>
                </a:solidFill>
              </a:rPr>
              <a:t>• Innovation and uniqueness of the solution:</a:t>
            </a:r>
            <a:r>
              <a:rPr sz="1600">
                <a:solidFill>
                  <a:srgbClr val="1E293B"/>
                </a:solidFill>
              </a:rPr>
              <a:t> Highlight key USPs, proprietary algorithms, novel hardware design, or competitive advantage.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2FE3A-469A-4F14-DB1A-90AE01CE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175" y="171410"/>
            <a:ext cx="1525905" cy="84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2011680" cy="411480"/>
          </a:xfrm>
          <a:prstGeom prst="roundRect">
            <a:avLst/>
          </a:prstGeom>
          <a:solidFill>
            <a:srgbClr val="1070E0"/>
          </a:solidFill>
          <a:ln>
            <a:solidFill>
              <a:srgbClr val="1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[Your 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4F9F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19589" y="320040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4F9F"/>
          </a:solidFill>
          <a:ln>
            <a:solidFill>
              <a:srgbClr val="0B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@Eureka 3.0 Idea Submission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4F9F"/>
                </a:solidFill>
              </a:rPr>
              <a:t>• Technologies to be used:</a:t>
            </a:r>
            <a:r>
              <a:rPr sz="1600">
                <a:solidFill>
                  <a:srgbClr val="1E293B"/>
                </a:solidFill>
              </a:rPr>
              <a:t> Mention programming languages, frameworks, hardware microcontrollers, sensors, AI/ML models, or cloud services (e.g. Python, React, ESP32, TensorFlow).</a:t>
            </a:r>
          </a:p>
          <a:p>
            <a:r>
              <a:rPr sz="1800" b="1">
                <a:solidFill>
                  <a:srgbClr val="0B4F9F"/>
                </a:solidFill>
              </a:rPr>
              <a:t>• Methodology and process for implementation:</a:t>
            </a:r>
            <a:r>
              <a:rPr sz="1600">
                <a:solidFill>
                  <a:srgbClr val="1E293B"/>
                </a:solidFill>
              </a:rPr>
              <a:t> Illustrate flowcharts, system architecture diagrams, data flow process, or photos of your working prototype.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6E8FC4-01DB-9D86-C159-39EC3B2F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175" y="171410"/>
            <a:ext cx="1525905" cy="84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2011680" cy="411480"/>
          </a:xfrm>
          <a:prstGeom prst="roundRect">
            <a:avLst/>
          </a:prstGeom>
          <a:solidFill>
            <a:srgbClr val="1070E0"/>
          </a:solidFill>
          <a:ln>
            <a:solidFill>
              <a:srgbClr val="1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[Your 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4F9F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4F9F"/>
          </a:solidFill>
          <a:ln>
            <a:solidFill>
              <a:srgbClr val="0B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@Eureka 3.0 Idea Submission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4F9F"/>
                </a:solidFill>
              </a:rPr>
              <a:t>• Analysis of the feasibility of the idea:</a:t>
            </a:r>
            <a:r>
              <a:rPr sz="1600">
                <a:solidFill>
                  <a:srgbClr val="1E293B"/>
                </a:solidFill>
              </a:rPr>
              <a:t> Evaluate practical execution, technical readiness, cost feasibility, and deployment timeline.</a:t>
            </a:r>
          </a:p>
          <a:p>
            <a:r>
              <a:rPr sz="1800" b="1">
                <a:solidFill>
                  <a:srgbClr val="0B4F9F"/>
                </a:solidFill>
              </a:rPr>
              <a:t>• Potential challenges and risks:</a:t>
            </a:r>
            <a:r>
              <a:rPr sz="1600">
                <a:solidFill>
                  <a:srgbClr val="1E293B"/>
                </a:solidFill>
              </a:rPr>
              <a:t> Identify hardware dependencies, data privacy, scaling bottlenecks, or adoption barriers.</a:t>
            </a:r>
          </a:p>
          <a:p>
            <a:r>
              <a:rPr sz="1800" b="1">
                <a:solidFill>
                  <a:srgbClr val="0B4F9F"/>
                </a:solidFill>
              </a:rPr>
              <a:t>• Strategies for overcoming these challenges:</a:t>
            </a:r>
            <a:r>
              <a:rPr sz="1600">
                <a:solidFill>
                  <a:srgbClr val="1E293B"/>
                </a:solidFill>
              </a:rPr>
              <a:t> Present risk mitigation plans, backup components, fail-safe mechanisms, or security protocols.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601CFF-3D2D-4C6E-C094-39683A6B6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175" y="171410"/>
            <a:ext cx="1525905" cy="84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2011680" cy="411480"/>
          </a:xfrm>
          <a:prstGeom prst="roundRect">
            <a:avLst/>
          </a:prstGeom>
          <a:solidFill>
            <a:srgbClr val="1070E0"/>
          </a:solidFill>
          <a:ln>
            <a:solidFill>
              <a:srgbClr val="1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[Your 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4F9F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4F9F"/>
          </a:solidFill>
          <a:ln>
            <a:solidFill>
              <a:srgbClr val="0B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@Eureka 3.0 Idea Submission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60145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4F9F"/>
                </a:solidFill>
              </a:rPr>
              <a:t>• Potential impact on the target audience:</a:t>
            </a:r>
            <a:r>
              <a:rPr sz="1600">
                <a:solidFill>
                  <a:srgbClr val="1E293B"/>
                </a:solidFill>
              </a:rPr>
              <a:t> Describe the direct measurable impact on end users, industry sectors, or society.</a:t>
            </a:r>
          </a:p>
          <a:p>
            <a:r>
              <a:rPr sz="1800" b="1">
                <a:solidFill>
                  <a:srgbClr val="0B4F9F"/>
                </a:solidFill>
              </a:rPr>
              <a:t>• Benefits of the solution:</a:t>
            </a:r>
            <a:r>
              <a:rPr sz="1600">
                <a:solidFill>
                  <a:srgbClr val="1E293B"/>
                </a:solidFill>
              </a:rPr>
              <a:t> List social, economic, environmental, efficiency, or cost-reduction advantages.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A86F35-58E2-F087-3DAF-60B3C3AF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175" y="171410"/>
            <a:ext cx="1525905" cy="84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2011680" cy="411480"/>
          </a:xfrm>
          <a:prstGeom prst="roundRect">
            <a:avLst/>
          </a:prstGeom>
          <a:solidFill>
            <a:srgbClr val="1070E0"/>
          </a:solidFill>
          <a:ln>
            <a:solidFill>
              <a:srgbClr val="1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[Your 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4F9F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4F9F"/>
          </a:solidFill>
          <a:ln>
            <a:solidFill>
              <a:srgbClr val="0B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@Eureka 3.0 Idea Submission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4F9F"/>
                </a:solidFill>
              </a:rPr>
              <a:t>• Details / Links of the reference and research work:</a:t>
            </a:r>
            <a:r>
              <a:rPr sz="1600">
                <a:solidFill>
                  <a:srgbClr val="1E293B"/>
                </a:solidFill>
              </a:rPr>
              <a:t> Include citations of research papers, market surveys, patent links, open-source libraries, or competitor analysis links.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73B62D-DACC-B6C6-9F42-D521F64C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175" y="171410"/>
            <a:ext cx="1525905" cy="84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456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 Gupta</cp:lastModifiedBy>
  <cp:revision>3</cp:revision>
  <dcterms:created xsi:type="dcterms:W3CDTF">2013-01-27T09:14:16Z</dcterms:created>
  <dcterms:modified xsi:type="dcterms:W3CDTF">2026-08-03T18:35:39Z</dcterms:modified>
  <cp:category/>
</cp:coreProperties>
</file>